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Universidade Federal da Paraíba — Centro de Informática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FFFFFF"/>
                </a:solidFill>
                <a:latin typeface="Calibri"/>
              </a:rPr>
              <a:t>Construção de Compiladores 1 — Prof. Andrei de Araújo Formiga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110944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4000" b="1" i="0">
                <a:solidFill>
                  <a:srgbClr val="1F3A5F"/>
                </a:solidFill>
                <a:latin typeface="Calibri"/>
              </a:rPr>
              <a:t>Projeto Final — Compilador Fun estendido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474720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900" b="0" i="1">
                <a:solidFill>
                  <a:srgbClr val="666666"/>
                </a:solidFill>
                <a:latin typeface="Calibri"/>
              </a:rPr>
              <a:t>Comparações novas · Atribuição composta · return como comando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548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Integrantes do grupo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9441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Davi Alves Rodrigues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Gabriel Barbosa Ribeiro de Oliveira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João Vitor Sampaio Costa</a:t>
            </a:r>
          </a:p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600" b="0" i="0">
                <a:latin typeface="Calibri"/>
              </a:rPr>
              <a:t>Nathan Meira Nóbrega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Contexto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que mudou desde o Marco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103120"/>
            <a:ext cx="2072579" cy="914400"/>
          </a:xfrm>
          <a:prstGeom prst="rect">
            <a:avLst/>
          </a:prstGeom>
          <a:solidFill>
            <a:srgbClr val="6666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EC1
(Marco 1)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630363" y="2450592"/>
            <a:ext cx="164592" cy="219456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04099" y="2103120"/>
            <a:ext cx="2072579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EC2 (07)
precedência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85822" y="2450592"/>
            <a:ext cx="164592" cy="219456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59558" y="2103120"/>
            <a:ext cx="2072579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EV (08)
variáveis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141281" y="2450592"/>
            <a:ext cx="164592" cy="219456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017" y="2103120"/>
            <a:ext cx="2072579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Cmd (09)
Turing-completa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396740" y="2450592"/>
            <a:ext cx="164592" cy="219456"/>
          </a:xfrm>
          <a:prstGeom prst="rightArrow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570476" y="2103120"/>
            <a:ext cx="2072579" cy="9144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Fun (10)
funções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383280"/>
            <a:ext cx="11094415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07 — Precedência: exp_a/exp_m tiram a obrigação de parentizar tudo.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08 — Variáveis + primeira análise semântica de verdade (tabela de símbolos).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09 — Condicionais, laços e comparações: Cmd é a primeira linguagem Turing-completa da série.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10 — Funções: parâmetros, variáveis locais, recursão direta, convenção de chamada em pilha com RBP.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1" i="0">
                <a:solidFill>
                  <a:srgbClr val="2E8B57"/>
                </a:solidFill>
                <a:latin typeface="Calibri"/>
              </a:rPr>
              <a:t>Projeto Final — parte exatamente daqui.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2/13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Ponto de partida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 linguagem Fun, rapidamente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Exemplo (Atividade 10)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5272887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450592"/>
            <a:ext cx="4943703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fun abs(x)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var y 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if x &lt; 0 { y = 0 - x;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else { y = x; 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return y;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main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return abs(0 - 42);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182880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2E75B6"/>
                </a:solidFill>
                <a:latin typeface="Calibri"/>
              </a:rPr>
              <a:t>As três extensões escolhidas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2286000"/>
            <a:ext cx="5272887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700" b="0" i="0">
                <a:latin typeface="Calibri"/>
              </a:rPr>
              <a:t>1. Comparações novas: &lt;=, &gt;=, !=</a:t>
            </a:r>
          </a:p>
          <a:p>
            <a:pPr algn="l" indent="-228600" marL="228600" lvl="0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700" b="0" i="0">
                <a:latin typeface="Calibri"/>
              </a:rPr>
              <a:t>2. Atribuição composta: +=, -=, *=, /=</a:t>
            </a:r>
          </a:p>
          <a:p>
            <a:pPr algn="l" indent="-228600" marL="228600" lvl="0">
              <a:lnSpc>
                <a:spcPct val="130000"/>
              </a:lnSpc>
              <a:spcAft>
                <a:spcPts val="400"/>
              </a:spcAft>
              <a:buChar char="•"/>
            </a:pPr>
            <a:r>
              <a:rPr sz="1700" b="0" i="0">
                <a:latin typeface="Calibri"/>
              </a:rPr>
              <a:t>3. return como comando (retorno antecipado)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800" b="0" i="0"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400" b="0" i="1">
                <a:solidFill>
                  <a:srgbClr val="666666"/>
                </a:solidFill>
                <a:latin typeface="Calibri"/>
              </a:rPr>
              <a:t>Critério: nenhuma exige tipo novo — escopo contido, toda a base de Fun continua funcionando sem regressão.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3/13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Davi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Novos operadores de comparação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&lt;=, &gt;= e != — mesmo lookahead de 1 caractere já usado para == desde a Atividade 09.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6400800" cy="23774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724912"/>
            <a:ext cx="6071616" cy="20482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_OPERADOR_COMPOSTO =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"&lt;": (MENOR, MENOR_IGUAL),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"&gt;": (MAIOR, MAIOR_IGUAL),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# le o caractere seguinte sem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# avancar ate decidir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2560320"/>
            <a:ext cx="4206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Codegen: só mais um SETcc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79" y="2926080"/>
            <a:ext cx="4206240" cy="2011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662671" y="3090672"/>
            <a:ext cx="3877056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&lt;=  →  setle %cl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&gt;=  →  setge %cl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!=  →  setne %cl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21208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'!' sozinho não existe em Fun (sem operador de negação) — vira erro léxico.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4/13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Atribuição composta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+=, -=, *=, /= — desmontados no PARSER, sem nó de AST novo.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560320"/>
            <a:ext cx="11094415" cy="2011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724912"/>
            <a:ext cx="10765231" cy="16824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x += 5;              vira exatamente       x = x + 5;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Atrib(x, OpBin(SOMA, Var(x), Const(5)))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937760"/>
            <a:ext cx="1109441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Semântica e codegen não mudam nada — processam o Atrib resultante como sempre processaram.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2E8B57"/>
                </a:solidFill>
                <a:latin typeface="Calibri"/>
              </a:rPr>
              <a:t>Teste garante: assembly de x += 5; é byte a byte idêntico ao de x = x + 5;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5/13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Por que açúcar sintático?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Alternativa considerada: um nó AtribComposta próprio, com sua própria verificação semântica e geração de código.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Por que não: um Atrib já representa perfeitamente uma atribuição — a única diferença é como o valor é calculado, não que tipo de comando é.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000" b="0" i="0">
                <a:latin typeface="Calibri"/>
              </a:rPr>
              <a:t/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700" b="1" i="0">
                <a:solidFill>
                  <a:srgbClr val="2E8B57"/>
                </a:solidFill>
                <a:latin typeface="Calibri"/>
              </a:rPr>
              <a:t>Resultado: menos código, e a prova de corretude fica trivial (compara o assembly das duas formas).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6/13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Nathan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return como comando: o problema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4415" cy="14630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10765231" cy="11338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&lt;corpo&gt; ::= &lt;cmd&gt;* 'return' &lt;exp&gt; ';' '}'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                        ^^^^^^ obrigatorio, sempre por ultimo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657600"/>
            <a:ext cx="11094415" cy="2560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Queremos permitir return também dentro de if/while, não só como última instrução.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00" b="0" i="0"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700" b="0" i="1">
                <a:solidFill>
                  <a:srgbClr val="666666"/>
                </a:solidFill>
                <a:latin typeface="Calibri"/>
              </a:rPr>
              <a:t>Problema: se return pode aparecer em qualquer lugar, como o parser sabe qual é o obrigatório (o do fim) e qual é antecipado?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7/13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 solução: peek de 1 token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6583680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6254496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ao encontrar 'return':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consome 'return' &lt;exp&gt; ';'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olha o token seguinte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se for '}':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e o return FINAL -&gt; vira exp_final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senao: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e um return ANTECIPADO -&gt; vira Cmd Return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0" i="0">
                <a:solidFill>
                  <a:srgbClr val="222222"/>
                </a:solidFill>
                <a:latin typeface="Consolas"/>
              </a:rPr>
              <a:t>    continua reconhecendo comandos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0" y="18288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75B6"/>
                </a:solidFill>
                <a:latin typeface="Calibri"/>
              </a:rPr>
              <a:t>sinal(n) usando return</a:t>
            </a:r>
          </a:p>
        </p:txBody>
      </p:sp>
      <p:sp>
        <p:nvSpPr>
          <p:cNvPr id="8" name="Rectangle 7"/>
          <p:cNvSpPr/>
          <p:nvPr/>
        </p:nvSpPr>
        <p:spPr>
          <a:xfrm>
            <a:off x="7680960" y="2194560"/>
            <a:ext cx="4023360" cy="27432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845552" y="2359152"/>
            <a:ext cx="3694176" cy="24140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fun sinal(n)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if n &lt; 0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return 0-1;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} else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if n == 0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return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} else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return 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21208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500" b="0" i="0">
                <a:latin typeface="Calibri"/>
              </a:rPr>
              <a:t>Dentro de if/while não há ambiguidade: lá, todo return é sempre antecipado.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8/13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Extensão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Geração de código do return antecipado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4415" cy="32918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13232" y="1993392"/>
            <a:ext cx="10765231" cy="2962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&lt;nome&gt;: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push %rbp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&lt;comandos, pode conter Return&gt;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&lt;expressao final&gt;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Lfim_&lt;nome&gt;:              # rotulo de saida, SEMPRE emitido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add $8*L, %rsp        # epilogo (igual Atividade 10)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pop %rbp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 i="0">
                <a:solidFill>
                  <a:srgbClr val="222222"/>
                </a:solidFill>
                <a:latin typeface="Consolas"/>
              </a:rPr>
              <a:t>    ret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11094415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Um Return so calcula a expressao (em %rax) e da jmp direto pra Lfim_&lt;nome&gt; — pula o resto do corpo.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9/13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João Vitor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As três extensões juntas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2E75B6"/>
                </a:solidFill>
                <a:latin typeface="Consolas"/>
              </a:rPr>
              <a:t>$ python compfun.py exemplos/valido8_extensoes_combinadas.fun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94560"/>
            <a:ext cx="5669280" cy="4206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359152"/>
            <a:ext cx="5340096" cy="3877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var contador = 0;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fun classifica(n)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if n &lt;= 0 { return 0; } else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if n &gt;= 100 { return 2; } else {}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return 1;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}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main {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contador += classifica(0 - 5);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contador += classifica(50);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contador += classifica(150);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return contador;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82880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Trecho do assembly gerado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0" y="2194560"/>
            <a:ext cx="4846320" cy="3108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022592" y="2359152"/>
            <a:ext cx="4517136" cy="2779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classifica: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setle %cl        # n &lt;= 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jmp Lfim_classifica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setge %cl        # n &gt;= 100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...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Lfim_classifica: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pop %rbp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0" i="0">
                <a:solidFill>
                  <a:srgbClr val="222222"/>
                </a:solidFill>
                <a:latin typeface="Consolas"/>
              </a:rPr>
              <a:t>    ret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548640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500" b="1" i="0">
                <a:solidFill>
                  <a:srgbClr val="2E8B57"/>
                </a:solidFill>
                <a:latin typeface="Calibri"/>
              </a:rPr>
              <a:t>Executado, imprime 3.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10/13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Testes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109441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40 testes da Atividade 10 continuam passando sem nenhuma alteração — zero regressão.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11094415" cy="19202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13232" y="2816352"/>
            <a:ext cx="10765231" cy="1591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$ python tests/test_fun.py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----------------------------------------------------------------------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Ran 66 tests in 2.0s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222222"/>
                </a:solidFill>
                <a:latin typeface="Consolas"/>
              </a:rPr>
              <a:t>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846320"/>
            <a:ext cx="11094415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+26 testes novos cobrindo as três extensões, incluindo um caso combinado e return antecipado dentro de recursão.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2E8B57"/>
                </a:solidFill>
                <a:latin typeface="Calibri"/>
              </a:rPr>
              <a:t>O simulador de equivalência semântica (que já pegou 2 bugs reais na Atividade 10) só precisou de 3 linhas novas — setle/setge/setne.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11/13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E75B6"/>
                </a:solidFill>
                <a:latin typeface="Calibri"/>
              </a:rPr>
              <a:t>Escopo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31520"/>
            <a:ext cx="1109441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1F3A5F"/>
                </a:solidFill>
                <a:latin typeface="Calibri"/>
              </a:rPr>
              <a:t>O que ficou de fora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011680"/>
            <a:ext cx="1109441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700" b="0" i="0">
                <a:latin typeface="Calibri"/>
              </a:rPr>
              <a:t>Enunciado: 1 extensão média/alta OU pelo menos 3 simples — escolhemos 3 simples.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2E8B57"/>
                </a:solidFill>
                <a:latin typeface="Calibri"/>
              </a:rPr>
              <a:t>Escolhidas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52728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&lt;=, &gt;=, !=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+=, -=, *=, /=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latin typeface="Calibri"/>
              </a:rPr>
              <a:t>return como comando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3017520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666666"/>
                </a:solidFill>
                <a:latin typeface="Calibri"/>
              </a:rPr>
              <a:t>Não escolhidas (fora de escopo)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3474720"/>
            <a:ext cx="5272887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666666"/>
                </a:solidFill>
                <a:latin typeface="Calibri"/>
              </a:rPr>
              <a:t>Operadores lógicos (E, OU, NÃO)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666666"/>
                </a:solidFill>
                <a:latin typeface="Calibri"/>
              </a:rPr>
              <a:t>Strings e booleanos como tipo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666666"/>
                </a:solidFill>
                <a:latin typeface="Calibri"/>
              </a:rPr>
              <a:t>Funções primitivas pré-definidas</a:t>
            </a:r>
          </a:p>
          <a:p>
            <a:pPr algn="l" indent="-228600" marL="228600" lvl="0">
              <a:lnSpc>
                <a:spcPct val="115000"/>
              </a:lnSpc>
              <a:spcAft>
                <a:spcPts val="400"/>
              </a:spcAft>
              <a:buChar char="•"/>
            </a:pPr>
            <a:r>
              <a:rPr sz="1600" b="0" i="0">
                <a:solidFill>
                  <a:srgbClr val="666666"/>
                </a:solidFill>
                <a:latin typeface="Calibri"/>
              </a:rPr>
              <a:t>Qualquer extensão média/alta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12/13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666666"/>
                </a:solidFill>
                <a:latin typeface="Calibri"/>
              </a:rPr>
              <a:t>Apresenta: Gabriel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Projeto Final — Encerramento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441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2200" b="1" i="0">
                <a:solidFill>
                  <a:srgbClr val="1F3A5F"/>
                </a:solidFill>
                <a:latin typeface="Calibri"/>
              </a:rPr>
              <a:t>Compilador Fun estendido:</a:t>
            </a:r>
          </a:p>
          <a:p>
            <a:pPr algn="ctr">
              <a:lnSpc>
                <a:spcPct val="130000"/>
              </a:lnSpc>
              <a:spcAft>
                <a:spcPts val="400"/>
              </a:spcAft>
            </a:pPr>
            <a:r>
              <a:rPr sz="1800" b="0" i="1">
                <a:solidFill>
                  <a:srgbClr val="666666"/>
                </a:solidFill>
                <a:latin typeface="Calibri"/>
              </a:rPr>
              <a:t>comparações novas · atribuição composta · return como comando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1148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2E75B6"/>
                </a:solidFill>
                <a:latin typeface="Calibri"/>
              </a:rPr>
              <a:t>Repositório no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222222"/>
                </a:solidFill>
                <a:latin typeface="Consolas"/>
              </a:rPr>
              <a:t>github.com/gabrielbribeiroo/CompilerConstruction_UFPB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1F3A5F"/>
                </a:solidFill>
                <a:latin typeface="Calibri"/>
              </a:rPr>
              <a:t>Obrigado!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14455" y="649224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666666"/>
                </a:solidFill>
                <a:latin typeface="Calibri"/>
              </a:rPr>
              <a:t>13/13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