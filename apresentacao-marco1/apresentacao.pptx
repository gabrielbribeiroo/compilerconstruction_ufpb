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Universidade Federal da Paraíba — Centro de Informática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Construção de Compiladores 1 — Prof. Andrei de Araújo Formiga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F3A5F"/>
                </a:solidFill>
                <a:latin typeface="Calibri"/>
              </a:rPr>
              <a:t>Marco 1 — Compilador EC1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666666"/>
                </a:solidFill>
                <a:latin typeface="Calibri"/>
              </a:rPr>
              <a:t>Análise Léxica · Análise Sintática · Geração de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Integrantes do grupo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Davi Alves Rodrigues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Gabriel Barbosa Ribeiro de Oliveira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João Vitor Sampaio Costa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Nathan Meira Nóbrega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Davi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A linguagem EC1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Gramática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272887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450592"/>
            <a:ext cx="4943703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&lt;programa&gt;  ::= &lt;expressao&gt;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&lt;expressao&gt; ::= &lt;literal&gt;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         | '(' &lt;expressao&gt; &lt;operador&gt; &lt;expressao&gt; ')'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&lt;operador&gt;  ::= '+' | '-' | '*' | '/'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&lt;literal&gt;   ::= &lt;digito&gt;+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8288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Exemplos válidos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0167" y="2286000"/>
            <a:ext cx="5272887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34759" y="2450592"/>
            <a:ext cx="4943703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333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(6 * 7)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(33 + (912 * 11))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((427 / 7) + (11 * (231 + 5)))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944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Toda operação é parentizada → sem regras de precedência.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Operandos são sempre constantes inteiras.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A linguagem é mínima, mas exibe o pipeline completo de um compilador.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2/15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Davi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Pipeline do compilador EC1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036003" cy="109728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Código
fonte (.ec1)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02931" y="3154680"/>
            <a:ext cx="192024" cy="27432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3243" y="2743200"/>
            <a:ext cx="2036003" cy="10972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Lexer
(Atividade 04)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7534" y="3154680"/>
            <a:ext cx="192024" cy="27432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77846" y="2743200"/>
            <a:ext cx="2036003" cy="10972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Parser → AST
(Atividade 05)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32137" y="3154680"/>
            <a:ext cx="192024" cy="27432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42449" y="2743200"/>
            <a:ext cx="2036003" cy="10972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Codegen
(Atividade 06)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6740" y="3154680"/>
            <a:ext cx="192024" cy="27432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7052" y="2743200"/>
            <a:ext cx="2036003" cy="109728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Assembly
(.s) → exec.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Lexer: caractere → token (NUMERO, PAREN_ESQ, …).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Parser: tokens → árvore sintática (Const, OpBin).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Codegen: árvore → assembly x86-64 que coloca o resultado em %rax.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3/15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Davi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Análise Léxica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latin typeface="Calibri"/>
              </a:rPr>
              <a:t>Varre a string fonte e agrupa caracteres em tokens.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Tipos de token (TipoToken)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5486400" cy="32004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3273552"/>
            <a:ext cx="5157216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NUMERO      sequência de dígitos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PAREN_ESQ   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PAREN_DIR   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SOMA        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SUB         -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MULT        *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DIV         /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EOF         fim da entrada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latin typeface="Calibri"/>
              </a:rPr>
              <a:t>Espaços, tabs, \n e \r são descartados.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latin typeface="Calibri"/>
              </a:rPr>
              <a:t>Números são agrupados num único token com o lexema completo.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latin typeface="Calibri"/>
              </a:rPr>
              <a:t>Caracteres simples → lookup direto em dict (O(1)).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latin typeface="Calibri"/>
              </a:rPr>
              <a:t>Extensão opcional: comentários de linha iniciados por #.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4/15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Nathan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Estrutura do Token e API do lexer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Cada token guarda tipo, lexema e posição no arquivo — essencial para mensagens de erro.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5486400" cy="21031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724912"/>
            <a:ext cx="5157216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@dataclass(frozen=True)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class Token: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tipo: TipoToken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lexema: str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posicao: 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API pública de AnalisadorLexico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926080"/>
            <a:ext cx="5120640" cy="17373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48272" y="3090672"/>
            <a:ext cx="4791456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proximo_token() -&gt; Token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consome e devolve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olhar_proximo() -&gt; Token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peek (não consome)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944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latin typeface="Calibri"/>
              </a:rPr>
              <a:t>Cursor interno avança caractere a caractere.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latin typeface="Calibri"/>
              </a:rPr>
              <a:t>Buffer de 1 token suporta o peek sem perder a posição.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latin typeface="Calibri"/>
              </a:rPr>
              <a:t>Erro léxico vira exceção com posição e ASCII do caractere ofensor.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5/15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Nathan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Exemplo: (33 + (912 * 11))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Entrada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9441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359152"/>
            <a:ext cx="1076523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222222"/>
                </a:solidFill>
                <a:latin typeface="Consolas"/>
              </a:rPr>
              <a:t>(33 + (912 * 11))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Tokens produzidos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11094415" cy="1920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3639312"/>
            <a:ext cx="10765231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&lt;ParenEsq, "(", 0&gt;    &lt;Numero, "33", 1&gt;    &lt;Soma, "+", 4&gt;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&lt;ParenEsq, "(", 6&gt;    &lt;Numero, "912", 7&gt;   &lt;Mult, "*", 11&gt;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&lt;Numero, "11", 13&gt;    &lt;ParenDir, ")", 15&gt;  &lt;ParenDir, ")", 16&gt;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400" b="0" i="0">
                <a:latin typeface="Calibri"/>
              </a:rPr>
              <a:t>Posição é a do caractere de início no arquivo original (não o índice na sequência).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400" b="0" i="0">
                <a:latin typeface="Calibri"/>
              </a:rPr>
              <a:t>43 testes em unittest cobrem tipos, lexemas, posições e erros léxicos.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6/15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Nathan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Análise Sintática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 i="0">
                <a:latin typeface="Calibri"/>
              </a:rPr>
              <a:t>Transforma a sequência de tokens em uma árvore sintática que captura a estrutura da expressão.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Algoritmo: descendente recursivo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109441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Uma função por não-terminal da gramática.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Decisão por lookahead de 1 token (consome e ramifica).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Recursão natural: a regra de &lt;expressao&gt; referencia a si própria.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Erro sintático vira exceção com posição e mensagem (esperado X, encontrado 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7/15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João Vitor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_analisa_exp() — pseudocódigo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4415" cy="3291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10765231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def _analisa_exp(self) -&gt; Exp: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tok = self._lex.proximo_token()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if tok.tipo == NUMERO: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    return Const(int(tok.lexema))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if tok.tipo == PAREN_ESQ: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    esq = self._analisa_exp()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    op  = self._analisa_operador()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    dir = self._analisa_exp()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    self._verifica_token(PAREN_DIR)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    return OpBin(op, esq, dir)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raise ErroSintatico(...)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latin typeface="Calibri"/>
              </a:rPr>
              <a:t>analisa_programa() chama _analisa_exp() e ainda exige EOF — captura entradas como `(6 * 7) 42` que têm lixo após a raiz.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8/15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João Vitor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Árvore de sintaxe abstrata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852160" cy="3291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5522976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class Exp: ...  # abstrata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@dataclass(frozen=True)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class Const(Exp):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valor: int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@dataclass(frozen=True)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class OpBin(Exp):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op: Op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esq: Exp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dir: Exp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AST de (33 + (912 * 11))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194560"/>
            <a:ext cx="5120640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48272" y="2359152"/>
            <a:ext cx="4791456" cy="2596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222222"/>
                </a:solidFill>
                <a:latin typeface="Consolas"/>
              </a:rPr>
              <a:t>      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222222"/>
                </a:solidFill>
                <a:latin typeface="Consolas"/>
              </a:rPr>
              <a:t>     /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222222"/>
                </a:solidFill>
                <a:latin typeface="Consolas"/>
              </a:rPr>
              <a:t>   33   *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222222"/>
                </a:solidFill>
                <a:latin typeface="Consolas"/>
              </a:rPr>
              <a:t>       /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222222"/>
                </a:solidFill>
                <a:latin typeface="Consolas"/>
              </a:rPr>
              <a:t>     912  11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400" b="0" i="0">
                <a:latin typeface="Calibri"/>
              </a:rPr>
              <a:t>frozen=True dá __eq__ por valor de graça — comparações diretas nos testes (self.assertEqual(arvore, esperado)).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9/15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João Vitor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Interpretador (tree-walking)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Para validar que a AST captura a expressão certa, implementamos um interpretador como método na própria árvore.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5852160" cy="2743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816352"/>
            <a:ext cx="5522976" cy="2414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class OpBin(Exp):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def avaliar(self) -&gt; int: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    ve = self.esq.avaliar()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    vd = self.dir.avaliar()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    if self.op is Op.SOMA: return ve + vd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    if self.op is Op.SUB:  return ve - vd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    if self.op is Op.MULT: return ve * vd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    if self.op is Op.DIV:  return int(ve / vd)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6517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Demo no terminal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017520"/>
            <a:ext cx="5120640" cy="1828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48272" y="3182112"/>
            <a:ext cx="4791456" cy="1499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$ python ec1.py exemplos/valido3.ec1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10065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400" b="0" i="0">
                <a:solidFill>
                  <a:srgbClr val="2E8B57"/>
                </a:solidFill>
                <a:latin typeface="Calibri"/>
              </a:rPr>
              <a:t>Esse interpretador vai servir como gabarito para validar o gerador de código da Atividade 06.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10/15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João Vitor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 problema da geração de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latin typeface="Calibri"/>
              </a:rPr>
              <a:t>Como traduzir (A op B) para assembly sem perder o resultado de A enquanto se calcula B?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1">
                <a:solidFill>
                  <a:srgbClr val="666666"/>
                </a:solidFill>
                <a:latin typeface="Calibri"/>
              </a:rPr>
              <a:t>Reservar um registrador extra (RBX) funciona para (7 + 11), mas quebra para (7 + (3 + 8)) — RBX é sobrescrito pelo aninhamento.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11094415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3822192"/>
            <a:ext cx="10765231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# tentativa ingenua com RBX para (7 + (3 + 8))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mov  $7, %rax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mov  %rax, %rbx     # guarda 7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mov  $3, %rax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mov  %rax, %rbx     # ← ALTERA 7 PARA 3!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mov  $8, %rax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add  %rbx, %rax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add  %rbx, %rax     # 7 perdido — resultado 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11/15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Gabriel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Esquema da pilha (opção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400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 i="0">
                <a:solidFill>
                  <a:srgbClr val="2E75B6"/>
                </a:solidFill>
                <a:latin typeface="Calibri"/>
              </a:rPr>
              <a:t>Para OpBin(op, esq, dir):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latin typeface="Calibri"/>
              </a:rPr>
              <a:t>1. gera código de dir   → %rax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latin typeface="Calibri"/>
              </a:rPr>
              <a:t>2. push %rax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latin typeface="Calibri"/>
              </a:rPr>
              <a:t>3. gera código de esq   → %rax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latin typeface="Calibri"/>
              </a:rPr>
              <a:t>4. pop %rbx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latin typeface="Calibri"/>
              </a:rPr>
              <a:t>5. &lt;instr&gt; %rbx, %rax    → %rax = esq op dir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 i="0"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 i="1">
                <a:solidFill>
                  <a:srgbClr val="2E8B57"/>
                </a:solidFill>
                <a:latin typeface="Calibri"/>
              </a:rPr>
              <a:t>A ordem invertida já deixa esq em RAX e dir em RBX — natural para sub e idiv, sem truques.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828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Mapeamento dos operadores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2194560"/>
            <a:ext cx="3108960" cy="3657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59952" y="2359152"/>
            <a:ext cx="2779776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SOMA  →  add  %rbx, %rax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SUB   →  sub  %rbx, %rax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MULT  →  imul %rbx, %rax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DIV   →  cqo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     idiv %rbx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(cqo estende o sinal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de rax em rdx, exigido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antes de idiv)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12/15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Gabriel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Demo: (33 + (912 * 11)) → .s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2E75B6"/>
                </a:solidFill>
                <a:latin typeface="Consolas"/>
              </a:rPr>
              <a:t>$ python compec1.py exemplos/valido3.ec1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669280" cy="4206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359152"/>
            <a:ext cx="5340096" cy="3877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.section .text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.globl _start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_start: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mov $11, %rax     # dir.dir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push %rax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mov $912, %rax    # dir.esq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pop %rbx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imul %rbx, %rax   # 912*11 = 10032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push %rax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mov $33, %rax     # esq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pop %rbx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add %rbx, %rax    # 33+10032 = 10065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call imprime_num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call sair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Consolas"/>
              </a:rPr>
              <a:t>    .include "runtime.s"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Trace do esquema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8463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25000"/>
              </a:lnSpc>
              <a:spcAft>
                <a:spcPts val="400"/>
              </a:spcAft>
              <a:buChar char="•"/>
            </a:pPr>
            <a:r>
              <a:rPr sz="1300" b="0" i="0">
                <a:latin typeface="Calibri"/>
              </a:rPr>
              <a:t>1. (912 * 11) é resolvida primeiro — imul deixa 10032 em %rax.</a:t>
            </a:r>
          </a:p>
          <a:p>
            <a:pPr algn="l" indent="-228600" marL="228600" lvl="0">
              <a:lnSpc>
                <a:spcPct val="125000"/>
              </a:lnSpc>
              <a:spcAft>
                <a:spcPts val="400"/>
              </a:spcAft>
              <a:buChar char="•"/>
            </a:pPr>
            <a:r>
              <a:rPr sz="1300" b="0" i="0">
                <a:latin typeface="Calibri"/>
              </a:rPr>
              <a:t>2. 10032 vai pra pilha.</a:t>
            </a:r>
          </a:p>
          <a:p>
            <a:pPr algn="l" indent="-228600" marL="228600" lvl="0">
              <a:lnSpc>
                <a:spcPct val="125000"/>
              </a:lnSpc>
              <a:spcAft>
                <a:spcPts val="400"/>
              </a:spcAft>
              <a:buChar char="•"/>
            </a:pPr>
            <a:r>
              <a:rPr sz="1300" b="0" i="0">
                <a:latin typeface="Calibri"/>
              </a:rPr>
              <a:t>3. 33 vai pra %rax.</a:t>
            </a:r>
          </a:p>
          <a:p>
            <a:pPr algn="l" indent="-228600" marL="228600" lvl="0">
              <a:lnSpc>
                <a:spcPct val="125000"/>
              </a:lnSpc>
              <a:spcAft>
                <a:spcPts val="400"/>
              </a:spcAft>
              <a:buChar char="•"/>
            </a:pPr>
            <a:r>
              <a:rPr sz="1300" b="0" i="0">
                <a:latin typeface="Calibri"/>
              </a:rPr>
              <a:t>4. pop traz 10032 para %rbx.</a:t>
            </a:r>
          </a:p>
          <a:p>
            <a:pPr algn="l" indent="-228600" marL="228600" lvl="0">
              <a:lnSpc>
                <a:spcPct val="125000"/>
              </a:lnSpc>
              <a:spcAft>
                <a:spcPts val="400"/>
              </a:spcAft>
              <a:buChar char="•"/>
            </a:pPr>
            <a:r>
              <a:rPr sz="1300" b="0" i="0">
                <a:latin typeface="Calibri"/>
              </a:rPr>
              <a:t>5. add → 10065 em %rax.</a:t>
            </a:r>
          </a:p>
          <a:p>
            <a:pPr algn="l" indent="-228600" marL="228600" lvl="0">
              <a:lnSpc>
                <a:spcPct val="125000"/>
              </a:lnSpc>
              <a:spcAft>
                <a:spcPts val="400"/>
              </a:spcAft>
              <a:buChar char="•"/>
            </a:pPr>
            <a:r>
              <a:rPr sz="1300" b="0" i="0">
                <a:latin typeface="Calibri"/>
              </a:rPr>
              <a:t>6. imprime_num imprime e sair termina o programa.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00" b="0" i="0"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 i="1">
                <a:solidFill>
                  <a:srgbClr val="2E8B57"/>
                </a:solidFill>
                <a:latin typeface="Calibri"/>
              </a:rPr>
              <a:t>Pilha sempre balanceada: cada push tem seu pop.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13/15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Gabriel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Atividade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Validação por equivalência semântica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15 testes em 6 classes. O destaque é o teste de equivalência: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94415" cy="21031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816352"/>
            <a:ext cx="10765231" cy="1773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# Para cada programa EC1 de teste: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arvore   = analisar(fonte)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esperado = arvore.avaliar()                 # interpretador (Ativ. 05)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obtido   = simular(gerar_codigo(arvore))    # simulador da pilha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assert obtido == esperado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400" b="0" i="0">
                <a:latin typeface="Calibri"/>
              </a:rPr>
              <a:t>O simulador (~30 linhas) entende exatamente as instruções que o codegen emite — mov, push, pop, add, sub, imul, cqo, idiv.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400" b="0" i="0">
                <a:solidFill>
                  <a:srgbClr val="2E8B57"/>
                </a:solidFill>
                <a:latin typeface="Calibri"/>
              </a:rPr>
              <a:t>Se simulador e interpretador batem para 16 programas, o gerador é semanticamente correto sem precisar montar/linkar.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14/15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Gabriel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Marco 1 — 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44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Compilador EC1 completo: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800" b="0" i="1">
                <a:solidFill>
                  <a:srgbClr val="666666"/>
                </a:solidFill>
                <a:latin typeface="Calibri"/>
              </a:rPr>
              <a:t>lexer · parser · interpretador · gerador de código x86-64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Repositório no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onsolas"/>
              </a:rPr>
              <a:t>github.com/gabrielbribeiroo/CompilerConstruction_UFPB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F3A5F"/>
                </a:solidFill>
                <a:latin typeface="Calibri"/>
              </a:rPr>
              <a:t>Obrigado!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